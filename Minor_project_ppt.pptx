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86" r:id="rId2"/>
    <p:sldId id="259" r:id="rId3"/>
    <p:sldId id="306" r:id="rId4"/>
    <p:sldId id="307" r:id="rId5"/>
    <p:sldId id="308" r:id="rId6"/>
    <p:sldId id="311" r:id="rId7"/>
    <p:sldId id="309" r:id="rId8"/>
    <p:sldId id="310" r:id="rId9"/>
    <p:sldId id="312" r:id="rId10"/>
    <p:sldId id="314" r:id="rId11"/>
    <p:sldId id="313" r:id="rId12"/>
    <p:sldId id="315" r:id="rId13"/>
    <p:sldId id="316" r:id="rId14"/>
    <p:sldId id="317" r:id="rId15"/>
    <p:sldId id="294" r:id="rId16"/>
    <p:sldId id="299" r:id="rId17"/>
    <p:sldId id="305" r:id="rId18"/>
  </p:sldIdLst>
  <p:sldSz cx="12192000" cy="6858000"/>
  <p:notesSz cx="6858000" cy="9144000"/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8" d="100"/>
          <a:sy n="78" d="100"/>
        </p:scale>
        <p:origin x="850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198" cy="7619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base"/>
            <a:endParaRPr lang="en-US" strike="noStrike" noProof="1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base"/>
            <a:fld id="{3EFD42F7-718C-4B98-AAEC-167E6DDD60A7}" type="datetimeFigureOut">
              <a:rPr lang="en-US" strike="noStrike" noProof="1" smtClean="0">
                <a:latin typeface="Arial" panose="020B0604020202020204" pitchFamily="34" charset="0"/>
                <a:ea typeface="+mn-ea"/>
                <a:cs typeface="+mn-cs"/>
              </a:rPr>
              <a:t>2/15/2026</a:t>
            </a:fld>
            <a:endParaRPr lang="en-US" strike="noStrike" noProof="1"/>
          </a:p>
        </p:txBody>
      </p:sp>
      <p:sp>
        <p:nvSpPr>
          <p:cNvPr id="3076" name="Slide Image Placeholder 3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077" name="Notes Placeholder 4"/>
          <p:cNvSpPr>
            <a:spLocks noGrp="1"/>
          </p:cNvSpPr>
          <p:nvPr>
            <p:ph type="body" sz="quarter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base"/>
            <a:endParaRPr 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base"/>
            <a:fld id="{21B2AA4F-B828-4D7C-AFD3-893933DAFCB4}" type="slidenum">
              <a:rPr lang="en-US" strike="noStrike" noProof="1" smtClean="0"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lang="en-US" strike="noStrike" noProof="1"/>
          </a:p>
        </p:txBody>
      </p:sp>
    </p:spTree>
    <p:extLst>
      <p:ext uri="{BB962C8B-B14F-4D97-AF65-F5344CB8AC3E}">
        <p14:creationId xmlns:p14="http://schemas.microsoft.com/office/powerpoint/2010/main" val="345664670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en-US" strike="noStrike" noProof="1"/>
              <a:t>Click to edit Master subtitle style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8D8DF44-61D9-4B00-B105-5EAD8A4E6411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15-02-2026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IN" altLang="x-none" strike="noStrike" noProof="1" dirty="0">
                <a:latin typeface="Calibri" panose="020F0502020204030204" pitchFamily="34" charset="0"/>
                <a:ea typeface="+mn-ea"/>
                <a:cs typeface="+mn-cs"/>
              </a:rPr>
              <a:t>‹#›</a:t>
            </a:fld>
            <a:endParaRPr lang="en-IN" altLang="x-none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8D8DF44-61D9-4B00-B105-5EAD8A4E6411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15-02-2026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IN" altLang="x-none" strike="noStrike" noProof="1" dirty="0">
                <a:latin typeface="Calibri" panose="020F0502020204030204" pitchFamily="34" charset="0"/>
                <a:ea typeface="+mn-ea"/>
                <a:cs typeface="+mn-cs"/>
              </a:rPr>
              <a:t>‹#›</a:t>
            </a:fld>
            <a:endParaRPr lang="en-IN" altLang="x-none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8D8DF44-61D9-4B00-B105-5EAD8A4E6411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15-02-2026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IN" altLang="x-none" strike="noStrike" noProof="1" dirty="0">
                <a:latin typeface="Calibri" panose="020F0502020204030204" pitchFamily="34" charset="0"/>
                <a:ea typeface="+mn-ea"/>
                <a:cs typeface="+mn-cs"/>
              </a:rPr>
              <a:t>‹#›</a:t>
            </a:fld>
            <a:endParaRPr lang="en-IN" altLang="x-none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8D8DF44-61D9-4B00-B105-5EAD8A4E6411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15-02-2026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IN" altLang="x-none" strike="noStrike" noProof="1" dirty="0">
                <a:latin typeface="Calibri" panose="020F0502020204030204" pitchFamily="34" charset="0"/>
                <a:ea typeface="+mn-ea"/>
                <a:cs typeface="+mn-cs"/>
              </a:rPr>
              <a:t>‹#›</a:t>
            </a:fld>
            <a:endParaRPr lang="en-IN" altLang="x-none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8D8DF44-61D9-4B00-B105-5EAD8A4E6411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15-02-2026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IN" altLang="x-none" strike="noStrike" noProof="1" dirty="0">
                <a:latin typeface="Calibri" panose="020F0502020204030204" pitchFamily="34" charset="0"/>
                <a:ea typeface="+mn-ea"/>
                <a:cs typeface="+mn-cs"/>
              </a:rPr>
              <a:t>‹#›</a:t>
            </a:fld>
            <a:endParaRPr lang="en-IN" altLang="x-none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8D8DF44-61D9-4B00-B105-5EAD8A4E6411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15-02-2026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IN" altLang="x-none" strike="noStrike" noProof="1" dirty="0">
                <a:latin typeface="Calibri" panose="020F0502020204030204" pitchFamily="34" charset="0"/>
                <a:ea typeface="+mn-ea"/>
                <a:cs typeface="+mn-cs"/>
              </a:rPr>
              <a:t>‹#›</a:t>
            </a:fld>
            <a:endParaRPr lang="en-IN" altLang="x-none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8D8DF44-61D9-4B00-B105-5EAD8A4E6411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15-02-2026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IN" altLang="x-none" strike="noStrike" noProof="1" dirty="0">
                <a:latin typeface="Calibri" panose="020F0502020204030204" pitchFamily="34" charset="0"/>
                <a:ea typeface="+mn-ea"/>
                <a:cs typeface="+mn-cs"/>
              </a:rPr>
              <a:t>‹#›</a:t>
            </a:fld>
            <a:endParaRPr lang="en-IN" altLang="x-none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8D8DF44-61D9-4B00-B105-5EAD8A4E6411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15-02-2026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IN" altLang="x-none" strike="noStrike" noProof="1" dirty="0">
                <a:latin typeface="Calibri" panose="020F0502020204030204" pitchFamily="34" charset="0"/>
                <a:ea typeface="+mn-ea"/>
                <a:cs typeface="+mn-cs"/>
              </a:rPr>
              <a:t>‹#›</a:t>
            </a:fld>
            <a:endParaRPr lang="en-IN" altLang="x-none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IN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8D8DF44-61D9-4B00-B105-5EAD8A4E6411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15-02-2026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IN" altLang="x-none" strike="noStrike" noProof="1" dirty="0">
                <a:latin typeface="Calibri" panose="020F0502020204030204" pitchFamily="34" charset="0"/>
                <a:ea typeface="+mn-ea"/>
                <a:cs typeface="+mn-cs"/>
              </a:rPr>
              <a:t>‹#›</a:t>
            </a:fld>
            <a:endParaRPr lang="en-IN" altLang="x-none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8D8DF44-61D9-4B00-B105-5EAD8A4E6411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15-02-2026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IN" altLang="x-none" strike="noStrike" noProof="1" dirty="0">
                <a:latin typeface="Calibri" panose="020F0502020204030204" pitchFamily="34" charset="0"/>
                <a:ea typeface="+mn-ea"/>
                <a:cs typeface="+mn-cs"/>
              </a:rPr>
              <a:t>‹#›</a:t>
            </a:fld>
            <a:endParaRPr lang="en-IN" altLang="x-none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8D8DF44-61D9-4B00-B105-5EAD8A4E6411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15-02-2026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IN" altLang="x-none" strike="noStrike" noProof="1" dirty="0">
                <a:latin typeface="Calibri" panose="020F0502020204030204" pitchFamily="34" charset="0"/>
                <a:ea typeface="+mn-ea"/>
                <a:cs typeface="+mn-cs"/>
              </a:rPr>
              <a:t>‹#›</a:t>
            </a:fld>
            <a:endParaRPr lang="en-IN" altLang="x-none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en-US" dirty="0"/>
              <a:t>Click to edit Master title style</a:t>
            </a:r>
            <a:endParaRPr lang="en-IN" alt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  <a:endParaRPr lang="en-I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8D8DF44-61D9-4B00-B105-5EAD8A4E6411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15-02-2026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 lvl="0" eaLnBrk="1" fontAlgn="base" hangingPunct="1"/>
            <a:fld id="{9A0DB2DC-4C9A-4742-B13C-FB6460FD3503}" type="slidenum">
              <a:rPr lang="en-IN" altLang="x-none" strike="noStrike" noProof="1" dirty="0">
                <a:latin typeface="Calibri" panose="020F0502020204030204" pitchFamily="34" charset="0"/>
                <a:ea typeface="+mn-ea"/>
                <a:cs typeface="+mn-cs"/>
              </a:rPr>
              <a:t>‹#›</a:t>
            </a:fld>
            <a:endParaRPr lang="en-IN" altLang="x-none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nodejs.org/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w3schools.com/" TargetMode="External"/><Relationship Id="rId4" Type="http://schemas.openxmlformats.org/officeDocument/2006/relationships/hyperlink" Target="https://supabase.com/docs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ghrcemn@raisoni.ne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594157" y="2714215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sz="3600" b="1" dirty="0"/>
          </a:p>
        </p:txBody>
      </p:sp>
      <p:cxnSp>
        <p:nvCxnSpPr>
          <p:cNvPr id="7" name="Straight Connector 6"/>
          <p:cNvCxnSpPr>
            <a:cxnSpLocks/>
          </p:cNvCxnSpPr>
          <p:nvPr/>
        </p:nvCxnSpPr>
        <p:spPr>
          <a:xfrm>
            <a:off x="0" y="1340768"/>
            <a:ext cx="12192000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972401" y="917719"/>
            <a:ext cx="6519724" cy="623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MCA</a:t>
            </a:r>
            <a:br>
              <a:rPr lang="en-US" sz="1050" dirty="0"/>
            </a:br>
            <a:endParaRPr lang="en-US" sz="1050" dirty="0"/>
          </a:p>
        </p:txBody>
      </p:sp>
      <p:sp>
        <p:nvSpPr>
          <p:cNvPr id="11" name="Rectangle 10"/>
          <p:cNvSpPr/>
          <p:nvPr/>
        </p:nvSpPr>
        <p:spPr>
          <a:xfrm>
            <a:off x="3373492" y="2666089"/>
            <a:ext cx="51707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49659" y="5877272"/>
            <a:ext cx="4123245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/>
              <a:t> 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MCA First Year, Semester-II</a:t>
            </a: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Summer-26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131360" y="3810315"/>
            <a:ext cx="585780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of Students</a:t>
            </a:r>
          </a:p>
          <a:p>
            <a:pPr marL="457200" indent="-457200" algn="ctr">
              <a:buAutoNum type="arabicPeriod"/>
            </a:pPr>
            <a:r>
              <a:rPr lang="en-US" sz="24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Rajat Rameshwar Bhendarkar, </a:t>
            </a: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 No :B52 , Sec: B</a:t>
            </a:r>
          </a:p>
          <a:p>
            <a:pPr algn="ctr"/>
            <a:r>
              <a:rPr lang="en-US" sz="24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2.Roshan Ramesh Deshpande </a:t>
            </a: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 No: B:60, sec :B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836138" y="1615177"/>
            <a:ext cx="65197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MC4PT209- Minor Project</a:t>
            </a:r>
            <a:endParaRPr lang="en-US" sz="24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34F8BA-4A9B-1014-1643-993D29CC12E8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0368" y="114944"/>
            <a:ext cx="2637593" cy="802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8C9AE84-D867-9D99-CF59-F5F87F01241C}"/>
              </a:ext>
            </a:extLst>
          </p:cNvPr>
          <p:cNvCxnSpPr>
            <a:cxnSpLocks/>
          </p:cNvCxnSpPr>
          <p:nvPr/>
        </p:nvCxnSpPr>
        <p:spPr>
          <a:xfrm>
            <a:off x="0" y="980728"/>
            <a:ext cx="12094029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38645442-6CF5-A58E-A11A-F7BC98693772}"/>
              </a:ext>
            </a:extLst>
          </p:cNvPr>
          <p:cNvSpPr/>
          <p:nvPr/>
        </p:nvSpPr>
        <p:spPr>
          <a:xfrm>
            <a:off x="3525892" y="2187119"/>
            <a:ext cx="517078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Synopsis Presentation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85384DD-A539-25F1-C784-730606CE955F}"/>
              </a:ext>
            </a:extLst>
          </p:cNvPr>
          <p:cNvSpPr txBox="1"/>
          <p:nvPr/>
        </p:nvSpPr>
        <p:spPr>
          <a:xfrm>
            <a:off x="1891506" y="3105413"/>
            <a:ext cx="8229600" cy="425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ts val="1000"/>
              </a:spcBef>
            </a:pPr>
            <a:r>
              <a:rPr lang="en-US" altLang="en-US" sz="2400" b="1" i="1" u="sng" dirty="0">
                <a:solidFill>
                  <a:srgbClr val="FF0000"/>
                </a:solidFill>
                <a:latin typeface="Arial Black" panose="020B0A04020102020204" pitchFamily="34" charset="0"/>
              </a:rPr>
              <a:t>Employee </a:t>
            </a:r>
            <a:r>
              <a:rPr lang="en-US" altLang="en-US" sz="2400" b="1" i="1" u="sng" dirty="0" err="1">
                <a:solidFill>
                  <a:srgbClr val="FF0000"/>
                </a:solidFill>
                <a:latin typeface="Arial Black" panose="020B0A04020102020204" pitchFamily="34" charset="0"/>
              </a:rPr>
              <a:t>PayRoll</a:t>
            </a:r>
            <a:r>
              <a:rPr lang="en-US" altLang="en-US" sz="2400" b="1" i="1" u="sng" dirty="0">
                <a:solidFill>
                  <a:srgbClr val="FF0000"/>
                </a:solidFill>
                <a:latin typeface="Arial Black" panose="020B0A04020102020204" pitchFamily="34" charset="0"/>
              </a:rPr>
              <a:t> Management</a:t>
            </a:r>
            <a:endParaRPr lang="en-US" altLang="en-US" sz="2400" b="1" i="1" u="sng" dirty="0">
              <a:solidFill>
                <a:srgbClr val="FF0000"/>
              </a:solidFill>
              <a:latin typeface="Castellar" panose="020A0402060406010301" pitchFamily="18" charset="0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346475BD-052E-93BE-FE05-D8F584EC2244}"/>
              </a:ext>
            </a:extLst>
          </p:cNvPr>
          <p:cNvSpPr txBox="1"/>
          <p:nvPr/>
        </p:nvSpPr>
        <p:spPr>
          <a:xfrm>
            <a:off x="2665071" y="3504635"/>
            <a:ext cx="6655987" cy="424732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ts val="1000"/>
              </a:spcBef>
            </a:pPr>
            <a:r>
              <a:rPr lang="en-US" altLang="en-US" sz="2400" b="1" i="1" dirty="0">
                <a:solidFill>
                  <a:srgbClr val="7030A0"/>
                </a:solidFill>
                <a:latin typeface="Times New Roman" panose="02020603050405020304" pitchFamily="18" charset="0"/>
                <a:ea typeface="Aharoni" pitchFamily="2" charset="-79"/>
                <a:cs typeface="Times New Roman" panose="02020603050405020304" pitchFamily="18" charset="0"/>
              </a:rPr>
              <a:t>Guide: Prof. Neeraj Kumar Jha</a:t>
            </a:r>
          </a:p>
        </p:txBody>
      </p:sp>
    </p:spTree>
    <p:extLst>
      <p:ext uri="{BB962C8B-B14F-4D97-AF65-F5344CB8AC3E}">
        <p14:creationId xmlns:p14="http://schemas.microsoft.com/office/powerpoint/2010/main" val="1901782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/>
          <p:nvPr/>
        </p:nvSpPr>
        <p:spPr>
          <a:xfrm>
            <a:off x="0" y="-3048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</a:endParaRPr>
          </a:p>
        </p:txBody>
      </p:sp>
      <p:sp>
        <p:nvSpPr>
          <p:cNvPr id="8" name="Title 1"/>
          <p:cNvSpPr txBox="1"/>
          <p:nvPr/>
        </p:nvSpPr>
        <p:spPr bwMode="auto">
          <a:xfrm>
            <a:off x="428625" y="5343525"/>
            <a:ext cx="10445750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0" name="Content Placeholder 2"/>
          <p:cNvSpPr txBox="1"/>
          <p:nvPr/>
        </p:nvSpPr>
        <p:spPr bwMode="auto">
          <a:xfrm>
            <a:off x="428624" y="765621"/>
            <a:ext cx="10848975" cy="5368051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normAutofit fontScale="87500" lnSpcReduction="10000"/>
          </a:bodyPr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marR="0" lvl="0" indent="-27432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Wingdings 2" panose="05020102010507070707"/>
              <a:buChar char="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Introduction</a:t>
            </a:r>
          </a:p>
          <a:p>
            <a:pPr marL="274320" indent="-27432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 2" panose="05020102010507070707"/>
              <a:buChar char="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Motivation</a:t>
            </a:r>
          </a:p>
          <a:p>
            <a:pPr marL="274320" indent="-27432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 2" panose="05020102010507070707"/>
              <a:buChar char=""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Problem Statement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4320" marR="0" lvl="0" indent="-27432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Wingdings 2" panose="05020102010507070707"/>
              <a:buChar char="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Objective of the Project</a:t>
            </a:r>
          </a:p>
          <a:p>
            <a:pPr marL="274320" marR="0" lvl="0" indent="-27432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Wingdings 2" panose="05020102010507070707"/>
              <a:buChar char="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System Analysis</a:t>
            </a:r>
          </a:p>
          <a:p>
            <a:pPr marL="274320" indent="-27432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 2" panose="05020102010507070707"/>
              <a:buChar char="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Survey of Technology</a:t>
            </a:r>
          </a:p>
          <a:p>
            <a:pPr marL="274320" marR="0" lvl="0" indent="-27432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Wingdings 2" panose="05020102010507070707"/>
              <a:buChar char="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Data Flow Diagrams</a:t>
            </a:r>
          </a:p>
          <a:p>
            <a:pPr marL="274320" marR="0" lvl="0" indent="-27432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Wingdings 2" panose="05020102010507070707"/>
              <a:buChar char="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Modules of the Project</a:t>
            </a:r>
          </a:p>
          <a:p>
            <a:pPr marL="274320" marR="0" lvl="0" indent="-27432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Wingdings 2" panose="05020102010507070707"/>
              <a:buChar char="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Data Modelling</a:t>
            </a:r>
          </a:p>
          <a:p>
            <a:pPr marL="274320" marR="0" lvl="0" indent="-27432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Wingdings 2" panose="05020102010507070707"/>
              <a:buChar char="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Purpose &amp; Scope</a:t>
            </a:r>
          </a:p>
          <a:p>
            <a:pPr marL="274320" marR="0" lvl="0" indent="-27432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Wingdings 2" panose="05020102010507070707"/>
              <a:buChar char="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Expected Result &amp; Discussion</a:t>
            </a:r>
          </a:p>
          <a:p>
            <a:pPr marL="274320" marR="0" lvl="0" indent="-27432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Wingdings 2" panose="05020102010507070707"/>
              <a:buChar char="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Chapter Plan</a:t>
            </a:r>
          </a:p>
          <a:p>
            <a:pPr marL="274320" marR="0" lvl="0" indent="-27432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Wingdings 2" panose="05020102010507070707"/>
              <a:buChar char="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Month Wise Work Plan</a:t>
            </a:r>
          </a:p>
          <a:p>
            <a:pPr marL="274320" marR="0" lvl="0" indent="-27432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Wingdings 2" panose="05020102010507070707"/>
              <a:buChar char="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12" name="Title 1"/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Contents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sp>
        <p:nvSpPr>
          <p:cNvPr id="2" name="Text Box 2">
            <a:extLst>
              <a:ext uri="{FF2B5EF4-FFF2-40B4-BE49-F238E27FC236}">
                <a16:creationId xmlns:a16="http://schemas.microsoft.com/office/drawing/2014/main" id="{9B333EC9-97EA-34D3-BDA7-3CFB249CEB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480" y="6231414"/>
            <a:ext cx="4907280" cy="28130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Nagpur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Pune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Jalgaon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Amravati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Pandhurna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Bhandara 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087C8-F42F-88EB-EE99-F9956B559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8EE673F7-4602-7A79-5619-864A38A10EBD}"/>
              </a:ext>
            </a:extLst>
          </p:cNvPr>
          <p:cNvSpPr/>
          <p:nvPr/>
        </p:nvSpPr>
        <p:spPr>
          <a:xfrm>
            <a:off x="0" y="-3048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0A33173-9881-79A3-D035-FB962C58DE62}"/>
              </a:ext>
            </a:extLst>
          </p:cNvPr>
          <p:cNvSpPr txBox="1"/>
          <p:nvPr/>
        </p:nvSpPr>
        <p:spPr bwMode="auto">
          <a:xfrm>
            <a:off x="428625" y="5343525"/>
            <a:ext cx="10445750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AABFC7A-B4DE-BBF9-FEF9-CC40C11B354E}"/>
              </a:ext>
            </a:extLst>
          </p:cNvPr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1EC3646-9250-1266-AA5B-E7BDE604DF0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sp>
        <p:nvSpPr>
          <p:cNvPr id="2" name="Text Box 2">
            <a:extLst>
              <a:ext uri="{FF2B5EF4-FFF2-40B4-BE49-F238E27FC236}">
                <a16:creationId xmlns:a16="http://schemas.microsoft.com/office/drawing/2014/main" id="{2B2B0EBA-AADC-FBF1-A723-2C0EB31D93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480" y="6231414"/>
            <a:ext cx="4907280" cy="28130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Nagpur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Pune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Jalgaon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Amravati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Pandhurna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Bhandara 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EE9C00-31FB-DFFF-3B8D-DD47914A022F}"/>
              </a:ext>
            </a:extLst>
          </p:cNvPr>
          <p:cNvSpPr txBox="1"/>
          <p:nvPr/>
        </p:nvSpPr>
        <p:spPr>
          <a:xfrm>
            <a:off x="428625" y="973394"/>
            <a:ext cx="11438910" cy="3434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Payroll Management System is a web-based application.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manage employee data, attendance, leave, and salary.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reduces manual work and calculation errors.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using Node.js,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Supabase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html and Tailwind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has two roles: Admin and Employee.</a:t>
            </a:r>
          </a:p>
        </p:txBody>
      </p:sp>
    </p:spTree>
    <p:extLst>
      <p:ext uri="{BB962C8B-B14F-4D97-AF65-F5344CB8AC3E}">
        <p14:creationId xmlns:p14="http://schemas.microsoft.com/office/powerpoint/2010/main" val="3896526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DB83D-2922-D557-1ABC-0AEC32C0D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CEF5E21A-303C-BF6A-E89F-DB5125DDB9FD}"/>
              </a:ext>
            </a:extLst>
          </p:cNvPr>
          <p:cNvSpPr/>
          <p:nvPr/>
        </p:nvSpPr>
        <p:spPr>
          <a:xfrm>
            <a:off x="0" y="-3048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35EAA54-E11A-0F74-F901-88262239BB60}"/>
              </a:ext>
            </a:extLst>
          </p:cNvPr>
          <p:cNvSpPr txBox="1"/>
          <p:nvPr/>
        </p:nvSpPr>
        <p:spPr bwMode="auto">
          <a:xfrm>
            <a:off x="428625" y="5343525"/>
            <a:ext cx="10445750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B29F834-4A82-C9EE-31A8-CCA4FB09FF4E}"/>
              </a:ext>
            </a:extLst>
          </p:cNvPr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otivation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A083080-546E-4616-EA54-AE867A58921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sp>
        <p:nvSpPr>
          <p:cNvPr id="2" name="Text Box 2">
            <a:extLst>
              <a:ext uri="{FF2B5EF4-FFF2-40B4-BE49-F238E27FC236}">
                <a16:creationId xmlns:a16="http://schemas.microsoft.com/office/drawing/2014/main" id="{9A844E79-BDC7-64A0-E492-C27CE065BF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480" y="6231414"/>
            <a:ext cx="4907280" cy="28130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Nagpur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Pune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Jalgaon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Amravati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Pandhurna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Bhandara 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30945E-D9BA-3774-9067-385555B88217}"/>
              </a:ext>
            </a:extLst>
          </p:cNvPr>
          <p:cNvSpPr txBox="1"/>
          <p:nvPr/>
        </p:nvSpPr>
        <p:spPr>
          <a:xfrm>
            <a:off x="560439" y="1081548"/>
            <a:ext cx="11051458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payroll systems take too much time.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chances of mistakes in salary calculation.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 and leave records are hard to manage manually.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a secure and digital system.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make payroll process faster and easier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745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F7498-2620-7C29-A6F7-9D13040D0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1319E492-1E92-24C4-BD54-EF0AF5205022}"/>
              </a:ext>
            </a:extLst>
          </p:cNvPr>
          <p:cNvSpPr/>
          <p:nvPr/>
        </p:nvSpPr>
        <p:spPr>
          <a:xfrm>
            <a:off x="0" y="-3048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F5D7083-B7DB-048C-EB03-C4FE0D0A8200}"/>
              </a:ext>
            </a:extLst>
          </p:cNvPr>
          <p:cNvSpPr txBox="1"/>
          <p:nvPr/>
        </p:nvSpPr>
        <p:spPr bwMode="auto">
          <a:xfrm>
            <a:off x="428625" y="5343525"/>
            <a:ext cx="10445750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2B6986A-291D-20F0-8274-823B3946A162}"/>
              </a:ext>
            </a:extLst>
          </p:cNvPr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Statements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157205D-DCBA-175F-EA13-F0E732EBE16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sp>
        <p:nvSpPr>
          <p:cNvPr id="2" name="Text Box 2">
            <a:extLst>
              <a:ext uri="{FF2B5EF4-FFF2-40B4-BE49-F238E27FC236}">
                <a16:creationId xmlns:a16="http://schemas.microsoft.com/office/drawing/2014/main" id="{FB83E6F8-44E2-52E4-8F06-1E34C8FCCA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480" y="6231414"/>
            <a:ext cx="4907280" cy="28130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Nagpur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Pune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Jalgaon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Amravati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Pandhurna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Bhandara 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C6DE27-B054-C9D0-7E52-726490910714}"/>
              </a:ext>
            </a:extLst>
          </p:cNvPr>
          <p:cNvSpPr txBox="1"/>
          <p:nvPr/>
        </p:nvSpPr>
        <p:spPr>
          <a:xfrm>
            <a:off x="560439" y="1081548"/>
            <a:ext cx="11051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3FB04E-595A-3FBE-790E-07FC2D987AA2}"/>
              </a:ext>
            </a:extLst>
          </p:cNvPr>
          <p:cNvSpPr txBox="1"/>
          <p:nvPr/>
        </p:nvSpPr>
        <p:spPr>
          <a:xfrm>
            <a:off x="1406012" y="1004519"/>
            <a:ext cx="7737987" cy="3434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payroll leads to errors and confusion.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Paper records can be lost or damaged.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proper tracking of attendance and leaves.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generate salary reports and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payslips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centralized system for managing employees.</a:t>
            </a:r>
          </a:p>
        </p:txBody>
      </p:sp>
    </p:spTree>
    <p:extLst>
      <p:ext uri="{BB962C8B-B14F-4D97-AF65-F5344CB8AC3E}">
        <p14:creationId xmlns:p14="http://schemas.microsoft.com/office/powerpoint/2010/main" val="3353249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50894-33DB-6352-38AC-4C36D3CB5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3E018160-AE0D-2C96-D91C-D76DB7F87C96}"/>
              </a:ext>
            </a:extLst>
          </p:cNvPr>
          <p:cNvSpPr/>
          <p:nvPr/>
        </p:nvSpPr>
        <p:spPr>
          <a:xfrm>
            <a:off x="0" y="-3048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78811E5-45D6-2B3D-1B19-9868C1E5A05D}"/>
              </a:ext>
            </a:extLst>
          </p:cNvPr>
          <p:cNvSpPr txBox="1"/>
          <p:nvPr/>
        </p:nvSpPr>
        <p:spPr bwMode="auto">
          <a:xfrm>
            <a:off x="428625" y="5343525"/>
            <a:ext cx="10445750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54F9B94-8198-059D-9B9E-1E90641F5432}"/>
              </a:ext>
            </a:extLst>
          </p:cNvPr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Objective 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Project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2C6CCD5-9388-1E4F-F8A9-28EFC5D733E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sp>
        <p:nvSpPr>
          <p:cNvPr id="2" name="Text Box 2">
            <a:extLst>
              <a:ext uri="{FF2B5EF4-FFF2-40B4-BE49-F238E27FC236}">
                <a16:creationId xmlns:a16="http://schemas.microsoft.com/office/drawing/2014/main" id="{99C7A65E-2B8F-6976-79E0-612A10AA3E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480" y="6231414"/>
            <a:ext cx="4907280" cy="28130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Nagpur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Pune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Jalgaon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Amravati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Pandhurna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Bhandara 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CA2D42-71FC-6AC8-69D9-05C19D0C51B9}"/>
              </a:ext>
            </a:extLst>
          </p:cNvPr>
          <p:cNvSpPr txBox="1"/>
          <p:nvPr/>
        </p:nvSpPr>
        <p:spPr>
          <a:xfrm>
            <a:off x="560439" y="1081548"/>
            <a:ext cx="11051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2CC0DB-138B-07CA-82C8-5F39429BCFF9}"/>
              </a:ext>
            </a:extLst>
          </p:cNvPr>
          <p:cNvSpPr txBox="1"/>
          <p:nvPr/>
        </p:nvSpPr>
        <p:spPr>
          <a:xfrm>
            <a:off x="1406012" y="1004519"/>
            <a:ext cx="7737987" cy="3434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payroll leads to errors and confusion.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Paper records can be lost or damaged.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proper tracking of attendance and leaves.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generate salary reports and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payslips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centralized system for managing employees.</a:t>
            </a:r>
          </a:p>
        </p:txBody>
      </p:sp>
    </p:spTree>
    <p:extLst>
      <p:ext uri="{BB962C8B-B14F-4D97-AF65-F5344CB8AC3E}">
        <p14:creationId xmlns:p14="http://schemas.microsoft.com/office/powerpoint/2010/main" val="9759051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2459F-56C7-D401-631C-8E29E210E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14ED40ED-6238-1BBF-A04C-59E1222D591E}"/>
              </a:ext>
            </a:extLst>
          </p:cNvPr>
          <p:cNvSpPr/>
          <p:nvPr/>
        </p:nvSpPr>
        <p:spPr>
          <a:xfrm>
            <a:off x="0" y="-3048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B2E7D1-53E3-ACB9-B9D8-D00C3AF4DB5B}"/>
              </a:ext>
            </a:extLst>
          </p:cNvPr>
          <p:cNvSpPr txBox="1"/>
          <p:nvPr/>
        </p:nvSpPr>
        <p:spPr bwMode="auto">
          <a:xfrm>
            <a:off x="428625" y="5343525"/>
            <a:ext cx="10445750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B779B410-FE9F-CA79-3114-8F1534297DCA}"/>
              </a:ext>
            </a:extLst>
          </p:cNvPr>
          <p:cNvSpPr txBox="1"/>
          <p:nvPr/>
        </p:nvSpPr>
        <p:spPr bwMode="auto">
          <a:xfrm>
            <a:off x="-9832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System Analysis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BE712DC-A659-2CE4-9A3D-41253963F93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sp>
        <p:nvSpPr>
          <p:cNvPr id="2" name="Text Box 2">
            <a:extLst>
              <a:ext uri="{FF2B5EF4-FFF2-40B4-BE49-F238E27FC236}">
                <a16:creationId xmlns:a16="http://schemas.microsoft.com/office/drawing/2014/main" id="{AC81083D-E6CB-8824-93CD-CDFC6DFF0D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480" y="6231414"/>
            <a:ext cx="4907280" cy="28130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Nagpur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Pune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Jalgaon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Amravati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Pandhurna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Bhandara 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CEA6E6-47E4-0BC7-3699-0551BF3C9F11}"/>
              </a:ext>
            </a:extLst>
          </p:cNvPr>
          <p:cNvSpPr txBox="1"/>
          <p:nvPr/>
        </p:nvSpPr>
        <p:spPr>
          <a:xfrm>
            <a:off x="560439" y="1081548"/>
            <a:ext cx="11051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3D7B8E-8B94-D1EA-D330-FB0A09BAF859}"/>
              </a:ext>
            </a:extLst>
          </p:cNvPr>
          <p:cNvSpPr txBox="1"/>
          <p:nvPr/>
        </p:nvSpPr>
        <p:spPr>
          <a:xfrm>
            <a:off x="1406012" y="1004519"/>
            <a:ext cx="8760543" cy="664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3EC9B9-910D-9B5F-C6C7-358A1DA9442E}"/>
              </a:ext>
            </a:extLst>
          </p:cNvPr>
          <p:cNvSpPr txBox="1"/>
          <p:nvPr/>
        </p:nvSpPr>
        <p:spPr>
          <a:xfrm>
            <a:off x="580103" y="1169194"/>
            <a:ext cx="9792930" cy="3434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system requirements.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Defined Admin and Employee roles.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system structure (Frontend + Backend + Database).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Ensured system security.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Checked technical and operational feasibility.</a:t>
            </a:r>
          </a:p>
        </p:txBody>
      </p:sp>
      <p:sp>
        <p:nvSpPr>
          <p:cNvPr id="20" name="Rectangle 9">
            <a:extLst>
              <a:ext uri="{FF2B5EF4-FFF2-40B4-BE49-F238E27FC236}">
                <a16:creationId xmlns:a16="http://schemas.microsoft.com/office/drawing/2014/main" id="{C0F716C1-95E1-720D-E122-798732922D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01120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E3B3A-E41B-9385-031D-10709B196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5341FF35-340B-A088-3C07-0502CCB134C6}"/>
              </a:ext>
            </a:extLst>
          </p:cNvPr>
          <p:cNvSpPr/>
          <p:nvPr/>
        </p:nvSpPr>
        <p:spPr>
          <a:xfrm>
            <a:off x="0" y="-3048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76DE2B8-375D-5552-6FE7-F5A7C8C14862}"/>
              </a:ext>
            </a:extLst>
          </p:cNvPr>
          <p:cNvSpPr txBox="1"/>
          <p:nvPr/>
        </p:nvSpPr>
        <p:spPr bwMode="auto">
          <a:xfrm>
            <a:off x="428625" y="5343525"/>
            <a:ext cx="10445750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12AC6AE-2377-927E-37CA-C8582F653DFC}"/>
              </a:ext>
            </a:extLst>
          </p:cNvPr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Survey of Technology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10173D2-448B-E5B0-C728-F01A5971AEA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sp>
        <p:nvSpPr>
          <p:cNvPr id="2" name="Text Box 2">
            <a:extLst>
              <a:ext uri="{FF2B5EF4-FFF2-40B4-BE49-F238E27FC236}">
                <a16:creationId xmlns:a16="http://schemas.microsoft.com/office/drawing/2014/main" id="{88CC4871-69FC-CDF8-27E4-8AFC196C3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480" y="6231414"/>
            <a:ext cx="4907280" cy="28130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Nagpur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Pune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Jalgaon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Amravati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Pandhurna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Bhandara 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292FE1-8A3F-7E53-A015-91C56F1338AE}"/>
              </a:ext>
            </a:extLst>
          </p:cNvPr>
          <p:cNvSpPr txBox="1"/>
          <p:nvPr/>
        </p:nvSpPr>
        <p:spPr>
          <a:xfrm>
            <a:off x="560439" y="1081548"/>
            <a:ext cx="11051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AFC3FB-6D93-F4D9-D37D-52831755E934}"/>
              </a:ext>
            </a:extLst>
          </p:cNvPr>
          <p:cNvSpPr txBox="1"/>
          <p:nvPr/>
        </p:nvSpPr>
        <p:spPr>
          <a:xfrm>
            <a:off x="1406012" y="1004519"/>
            <a:ext cx="8760543" cy="664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A6EA7A-E310-DF04-A40F-26AA4BD8B865}"/>
              </a:ext>
            </a:extLst>
          </p:cNvPr>
          <p:cNvSpPr txBox="1"/>
          <p:nvPr/>
        </p:nvSpPr>
        <p:spPr>
          <a:xfrm>
            <a:off x="698090" y="887889"/>
            <a:ext cx="6174658" cy="3434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Node.js 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SupaBase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JWT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Frontend: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HTML,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Taiwind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JavaScript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REST API used for communication</a:t>
            </a:r>
          </a:p>
        </p:txBody>
      </p:sp>
    </p:spTree>
    <p:extLst>
      <p:ext uri="{BB962C8B-B14F-4D97-AF65-F5344CB8AC3E}">
        <p14:creationId xmlns:p14="http://schemas.microsoft.com/office/powerpoint/2010/main" val="20048283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1EB21-E303-C512-FFDA-879923D69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E16500E0-EADA-2887-5A55-59E752743F10}"/>
              </a:ext>
            </a:extLst>
          </p:cNvPr>
          <p:cNvSpPr/>
          <p:nvPr/>
        </p:nvSpPr>
        <p:spPr>
          <a:xfrm>
            <a:off x="0" y="-3048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840F99D-9B30-01DB-E063-5F2E16457DA8}"/>
              </a:ext>
            </a:extLst>
          </p:cNvPr>
          <p:cNvSpPr txBox="1"/>
          <p:nvPr/>
        </p:nvSpPr>
        <p:spPr bwMode="auto">
          <a:xfrm>
            <a:off x="428625" y="5343525"/>
            <a:ext cx="10445750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BE82BCB-86CC-9E2C-10CC-E82CA8E661BA}"/>
              </a:ext>
            </a:extLst>
          </p:cNvPr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505A3B2-2BE7-1DC8-3652-C8681880BA9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sp>
        <p:nvSpPr>
          <p:cNvPr id="2" name="Text Box 2">
            <a:extLst>
              <a:ext uri="{FF2B5EF4-FFF2-40B4-BE49-F238E27FC236}">
                <a16:creationId xmlns:a16="http://schemas.microsoft.com/office/drawing/2014/main" id="{A8DC3305-58A4-BA3B-9810-62811CBEA5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480" y="6231414"/>
            <a:ext cx="4907280" cy="28130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Nagpur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Pune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Jalgaon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Amravati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Pandhurna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Bhandara 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27C229-14B0-EC40-55A2-14C460A1132C}"/>
              </a:ext>
            </a:extLst>
          </p:cNvPr>
          <p:cNvSpPr txBox="1"/>
          <p:nvPr/>
        </p:nvSpPr>
        <p:spPr>
          <a:xfrm>
            <a:off x="560439" y="1081548"/>
            <a:ext cx="11051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D9A7F9-B8C6-8F4E-2D17-A696F01539EF}"/>
              </a:ext>
            </a:extLst>
          </p:cNvPr>
          <p:cNvSpPr txBox="1"/>
          <p:nvPr/>
        </p:nvSpPr>
        <p:spPr>
          <a:xfrm>
            <a:off x="1406012" y="1004519"/>
            <a:ext cx="8760543" cy="664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69689DD-044F-08C8-6493-1AA921D872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3364" y="826437"/>
            <a:ext cx="4528658" cy="5121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7153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EA451-66BA-8288-1C59-DBEA7DD72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C18B93BC-CEC3-2CE9-3CD9-EFF3F7E848E6}"/>
              </a:ext>
            </a:extLst>
          </p:cNvPr>
          <p:cNvSpPr/>
          <p:nvPr/>
        </p:nvSpPr>
        <p:spPr>
          <a:xfrm>
            <a:off x="0" y="-3048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B5465CF-E72D-D898-C7F4-1E9692C8119E}"/>
              </a:ext>
            </a:extLst>
          </p:cNvPr>
          <p:cNvSpPr txBox="1"/>
          <p:nvPr/>
        </p:nvSpPr>
        <p:spPr bwMode="auto">
          <a:xfrm>
            <a:off x="428625" y="5343525"/>
            <a:ext cx="10445750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4256CE9-6F69-D5DA-7426-F0147F9B7CCC}"/>
              </a:ext>
            </a:extLst>
          </p:cNvPr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Modules of Project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1998EFE-2231-39BE-D9BF-019011E2697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sp>
        <p:nvSpPr>
          <p:cNvPr id="2" name="Text Box 2">
            <a:extLst>
              <a:ext uri="{FF2B5EF4-FFF2-40B4-BE49-F238E27FC236}">
                <a16:creationId xmlns:a16="http://schemas.microsoft.com/office/drawing/2014/main" id="{355137DE-D4F5-D302-A14F-2ED4822B96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480" y="6231414"/>
            <a:ext cx="4907280" cy="28130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Nagpur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Pune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Jalgaon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Amravati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Pandhurna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Bhandara 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76CE29-E07E-EF1B-AD1F-F56CA72B0228}"/>
              </a:ext>
            </a:extLst>
          </p:cNvPr>
          <p:cNvSpPr txBox="1"/>
          <p:nvPr/>
        </p:nvSpPr>
        <p:spPr>
          <a:xfrm>
            <a:off x="560439" y="1081548"/>
            <a:ext cx="11051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418CE4-828A-FA4F-22ED-1F6B2FF8E7B4}"/>
              </a:ext>
            </a:extLst>
          </p:cNvPr>
          <p:cNvSpPr txBox="1"/>
          <p:nvPr/>
        </p:nvSpPr>
        <p:spPr>
          <a:xfrm>
            <a:off x="1406012" y="1004519"/>
            <a:ext cx="8760543" cy="664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70C252-C67B-9802-4570-06F26D8092E8}"/>
              </a:ext>
            </a:extLst>
          </p:cNvPr>
          <p:cNvSpPr txBox="1"/>
          <p:nvPr/>
        </p:nvSpPr>
        <p:spPr>
          <a:xfrm>
            <a:off x="698090" y="1065941"/>
            <a:ext cx="6174658" cy="4819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Login &amp; Authentication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Employee Management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Department Management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Attendance Management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Leave Management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Payroll Management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Announcement Module</a:t>
            </a:r>
          </a:p>
        </p:txBody>
      </p:sp>
    </p:spTree>
    <p:extLst>
      <p:ext uri="{BB962C8B-B14F-4D97-AF65-F5344CB8AC3E}">
        <p14:creationId xmlns:p14="http://schemas.microsoft.com/office/powerpoint/2010/main" val="12850623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03529-7F9D-D4E1-A9BD-2185B1915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9E9B156F-1136-C181-5997-D72A84BBAFA9}"/>
              </a:ext>
            </a:extLst>
          </p:cNvPr>
          <p:cNvSpPr/>
          <p:nvPr/>
        </p:nvSpPr>
        <p:spPr>
          <a:xfrm>
            <a:off x="0" y="-3048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5F9EC2E-EB3D-D890-0633-45187D159EC5}"/>
              </a:ext>
            </a:extLst>
          </p:cNvPr>
          <p:cNvSpPr txBox="1"/>
          <p:nvPr/>
        </p:nvSpPr>
        <p:spPr bwMode="auto">
          <a:xfrm>
            <a:off x="428625" y="5343525"/>
            <a:ext cx="10445750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08A8F1B1-7F7C-4154-7E11-8C286874F71F}"/>
              </a:ext>
            </a:extLst>
          </p:cNvPr>
          <p:cNvSpPr txBox="1"/>
          <p:nvPr/>
        </p:nvSpPr>
        <p:spPr bwMode="auto">
          <a:xfrm>
            <a:off x="-9832" y="-3048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Data Modelling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B70B8AF-25BF-B295-CDBE-4C68CCA0CD7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sp>
        <p:nvSpPr>
          <p:cNvPr id="2" name="Text Box 2">
            <a:extLst>
              <a:ext uri="{FF2B5EF4-FFF2-40B4-BE49-F238E27FC236}">
                <a16:creationId xmlns:a16="http://schemas.microsoft.com/office/drawing/2014/main" id="{A74DD915-E2A6-FEF8-4E79-1F15114CF2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480" y="6231414"/>
            <a:ext cx="4907280" cy="28130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Nagpur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Pune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Jalgaon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Amravati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Pandhurna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Bhandara 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9AB2DA-6ADF-AFC7-993B-A39BF584280B}"/>
              </a:ext>
            </a:extLst>
          </p:cNvPr>
          <p:cNvSpPr txBox="1"/>
          <p:nvPr/>
        </p:nvSpPr>
        <p:spPr>
          <a:xfrm>
            <a:off x="560439" y="1081548"/>
            <a:ext cx="11051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81CAB7-0DDF-9ECD-0657-4B500ACFFB9B}"/>
              </a:ext>
            </a:extLst>
          </p:cNvPr>
          <p:cNvSpPr txBox="1"/>
          <p:nvPr/>
        </p:nvSpPr>
        <p:spPr>
          <a:xfrm>
            <a:off x="1406012" y="1004519"/>
            <a:ext cx="8760543" cy="664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C3BAB6-210B-C56E-3839-66358AEE4CC9}"/>
              </a:ext>
            </a:extLst>
          </p:cNvPr>
          <p:cNvSpPr txBox="1"/>
          <p:nvPr/>
        </p:nvSpPr>
        <p:spPr>
          <a:xfrm>
            <a:off x="766916" y="1004519"/>
            <a:ext cx="6174658" cy="4126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Employee data model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Department model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Attendance model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Leave model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Payroll model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Announcement model</a:t>
            </a:r>
          </a:p>
        </p:txBody>
      </p:sp>
    </p:spTree>
    <p:extLst>
      <p:ext uri="{BB962C8B-B14F-4D97-AF65-F5344CB8AC3E}">
        <p14:creationId xmlns:p14="http://schemas.microsoft.com/office/powerpoint/2010/main" val="28746874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0F4BB-1787-9E9B-A990-95215DEB3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FBEE3AE9-4992-9005-15EC-D5D162FA7341}"/>
              </a:ext>
            </a:extLst>
          </p:cNvPr>
          <p:cNvSpPr/>
          <p:nvPr/>
        </p:nvSpPr>
        <p:spPr>
          <a:xfrm>
            <a:off x="0" y="-3048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C095FB6-4F19-3A20-F1DA-31743E2C5AEE}"/>
              </a:ext>
            </a:extLst>
          </p:cNvPr>
          <p:cNvSpPr txBox="1"/>
          <p:nvPr/>
        </p:nvSpPr>
        <p:spPr bwMode="auto">
          <a:xfrm>
            <a:off x="428625" y="5343525"/>
            <a:ext cx="10445750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B7A8CA2-FE48-C081-222C-CF17018C3E65}"/>
              </a:ext>
            </a:extLst>
          </p:cNvPr>
          <p:cNvSpPr txBox="1"/>
          <p:nvPr/>
        </p:nvSpPr>
        <p:spPr bwMode="auto">
          <a:xfrm>
            <a:off x="-9832" y="-3048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Purpose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Scope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9A18CCF-2E79-3B31-06F1-C27B3FA0B60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sp>
        <p:nvSpPr>
          <p:cNvPr id="2" name="Text Box 2">
            <a:extLst>
              <a:ext uri="{FF2B5EF4-FFF2-40B4-BE49-F238E27FC236}">
                <a16:creationId xmlns:a16="http://schemas.microsoft.com/office/drawing/2014/main" id="{45190C23-B86C-1791-68C1-8B92776EA0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480" y="6231414"/>
            <a:ext cx="4907280" cy="28130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Nagpur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Pune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Jalgaon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Amravati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Pandhurna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Bhandara 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85356C-9636-46EE-DD27-645D6147F64F}"/>
              </a:ext>
            </a:extLst>
          </p:cNvPr>
          <p:cNvSpPr txBox="1"/>
          <p:nvPr/>
        </p:nvSpPr>
        <p:spPr>
          <a:xfrm>
            <a:off x="560439" y="1081548"/>
            <a:ext cx="11051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E6310A-AED2-87DC-A243-7CBF16A7CD49}"/>
              </a:ext>
            </a:extLst>
          </p:cNvPr>
          <p:cNvSpPr txBox="1"/>
          <p:nvPr/>
        </p:nvSpPr>
        <p:spPr>
          <a:xfrm>
            <a:off x="1406012" y="1004519"/>
            <a:ext cx="8760543" cy="664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8A1FB5-EAF2-5541-422E-D0BBDFEAD007}"/>
              </a:ext>
            </a:extLst>
          </p:cNvPr>
          <p:cNvSpPr txBox="1"/>
          <p:nvPr/>
        </p:nvSpPr>
        <p:spPr>
          <a:xfrm>
            <a:off x="766916" y="1004519"/>
            <a:ext cx="6174658" cy="4126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automate payroll process.</a:t>
            </a:r>
          </a:p>
          <a:p>
            <a:pPr marL="742950" lvl="1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errors and save time.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small and medium companies.</a:t>
            </a:r>
          </a:p>
          <a:p>
            <a:pPr marL="742950" lvl="1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upgraded with more features in future.</a:t>
            </a:r>
          </a:p>
        </p:txBody>
      </p:sp>
    </p:spTree>
    <p:extLst>
      <p:ext uri="{BB962C8B-B14F-4D97-AF65-F5344CB8AC3E}">
        <p14:creationId xmlns:p14="http://schemas.microsoft.com/office/powerpoint/2010/main" val="15913863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45DDB-426A-B958-A610-210114946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82C1CECD-9128-0B9D-4047-47C6CDECCC16}"/>
              </a:ext>
            </a:extLst>
          </p:cNvPr>
          <p:cNvSpPr/>
          <p:nvPr/>
        </p:nvSpPr>
        <p:spPr>
          <a:xfrm>
            <a:off x="0" y="-3048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41952BF-F332-19CD-4172-9CEB3CE9A895}"/>
              </a:ext>
            </a:extLst>
          </p:cNvPr>
          <p:cNvSpPr txBox="1"/>
          <p:nvPr/>
        </p:nvSpPr>
        <p:spPr bwMode="auto">
          <a:xfrm>
            <a:off x="428625" y="5343525"/>
            <a:ext cx="10445750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8877796-CE75-BEBF-E0A4-1DD5FBE04908}"/>
              </a:ext>
            </a:extLst>
          </p:cNvPr>
          <p:cNvSpPr txBox="1"/>
          <p:nvPr/>
        </p:nvSpPr>
        <p:spPr bwMode="auto">
          <a:xfrm>
            <a:off x="-9832" y="-3048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Expected Result And Discussion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2D332E8-53BE-6FC6-B8EE-FA4D5F85E4E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sp>
        <p:nvSpPr>
          <p:cNvPr id="2" name="Text Box 2">
            <a:extLst>
              <a:ext uri="{FF2B5EF4-FFF2-40B4-BE49-F238E27FC236}">
                <a16:creationId xmlns:a16="http://schemas.microsoft.com/office/drawing/2014/main" id="{F68004F7-728E-E61E-8FC6-951A2CB389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480" y="6231414"/>
            <a:ext cx="4907280" cy="28130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Nagpur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Pune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Jalgaon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Amravati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Pandhurna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Bhandara 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725113-D68E-59E8-C4B8-F04777B31AD9}"/>
              </a:ext>
            </a:extLst>
          </p:cNvPr>
          <p:cNvSpPr txBox="1"/>
          <p:nvPr/>
        </p:nvSpPr>
        <p:spPr>
          <a:xfrm>
            <a:off x="560439" y="1081548"/>
            <a:ext cx="11051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CA8045-AEB8-38C6-8D4B-DE465765130A}"/>
              </a:ext>
            </a:extLst>
          </p:cNvPr>
          <p:cNvSpPr txBox="1"/>
          <p:nvPr/>
        </p:nvSpPr>
        <p:spPr>
          <a:xfrm>
            <a:off x="1406012" y="1004519"/>
            <a:ext cx="8760543" cy="664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76FEC8-1B7F-BC87-9DE7-5A9E6CF65B51}"/>
              </a:ext>
            </a:extLst>
          </p:cNvPr>
          <p:cNvSpPr txBox="1"/>
          <p:nvPr/>
        </p:nvSpPr>
        <p:spPr>
          <a:xfrm>
            <a:off x="766916" y="1004519"/>
            <a:ext cx="9222658" cy="3434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salary calculation.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attendance and leave tracking.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login system.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and easy-to-use dashboard.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management and productivity.</a:t>
            </a:r>
          </a:p>
        </p:txBody>
      </p:sp>
    </p:spTree>
    <p:extLst>
      <p:ext uri="{BB962C8B-B14F-4D97-AF65-F5344CB8AC3E}">
        <p14:creationId xmlns:p14="http://schemas.microsoft.com/office/powerpoint/2010/main" val="26712296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20677-1974-79CB-15D8-E74E573F2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628088F7-CC3C-3B93-0429-B1869DDAFEB1}"/>
              </a:ext>
            </a:extLst>
          </p:cNvPr>
          <p:cNvSpPr/>
          <p:nvPr/>
        </p:nvSpPr>
        <p:spPr>
          <a:xfrm>
            <a:off x="0" y="-3048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E4C6ACD-2436-E1FD-B865-0FB9476E58DB}"/>
              </a:ext>
            </a:extLst>
          </p:cNvPr>
          <p:cNvSpPr txBox="1"/>
          <p:nvPr/>
        </p:nvSpPr>
        <p:spPr bwMode="auto">
          <a:xfrm>
            <a:off x="428625" y="5343525"/>
            <a:ext cx="10445750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6B3CCE6-F254-82B9-3301-8B4FABE54D8D}"/>
              </a:ext>
            </a:extLst>
          </p:cNvPr>
          <p:cNvSpPr txBox="1"/>
          <p:nvPr/>
        </p:nvSpPr>
        <p:spPr bwMode="auto">
          <a:xfrm>
            <a:off x="-9832" y="-3048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Plan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8F4F60D-4ED1-82E1-4A51-D307A76D5B2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sp>
        <p:nvSpPr>
          <p:cNvPr id="2" name="Text Box 2">
            <a:extLst>
              <a:ext uri="{FF2B5EF4-FFF2-40B4-BE49-F238E27FC236}">
                <a16:creationId xmlns:a16="http://schemas.microsoft.com/office/drawing/2014/main" id="{AA69D555-CC7B-1E80-1B64-25368479CB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480" y="6231414"/>
            <a:ext cx="4907280" cy="28130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Nagpur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Pune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Jalgaon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Amravati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Pandhurna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Bhandara 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743907-BE97-2020-A611-8C46E530F86A}"/>
              </a:ext>
            </a:extLst>
          </p:cNvPr>
          <p:cNvSpPr txBox="1"/>
          <p:nvPr/>
        </p:nvSpPr>
        <p:spPr>
          <a:xfrm>
            <a:off x="560439" y="1081548"/>
            <a:ext cx="11051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C82DFD-D57E-29EB-F2A7-87A09BD8D062}"/>
              </a:ext>
            </a:extLst>
          </p:cNvPr>
          <p:cNvSpPr txBox="1"/>
          <p:nvPr/>
        </p:nvSpPr>
        <p:spPr>
          <a:xfrm>
            <a:off x="1406012" y="1004519"/>
            <a:ext cx="8760543" cy="664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7720AE-E42F-E8D3-0F54-90371D7B7E48}"/>
              </a:ext>
            </a:extLst>
          </p:cNvPr>
          <p:cNvSpPr txBox="1"/>
          <p:nvPr/>
        </p:nvSpPr>
        <p:spPr>
          <a:xfrm>
            <a:off x="1042219" y="1034191"/>
            <a:ext cx="6174658" cy="4126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 Analysis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2448762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7"/>
          <p:cNvSpPr/>
          <p:nvPr/>
        </p:nvSpPr>
        <p:spPr>
          <a:xfrm>
            <a:off x="0" y="1524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eaLnBrk="0" hangingPunct="0"/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7410" name="Title 1"/>
          <p:cNvSpPr txBox="1"/>
          <p:nvPr/>
        </p:nvSpPr>
        <p:spPr>
          <a:xfrm>
            <a:off x="2293938" y="2054225"/>
            <a:ext cx="7239000" cy="90805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algn="ctr" eaLnBrk="0" hangingPunct="0">
              <a:lnSpc>
                <a:spcPct val="90000"/>
              </a:lnSpc>
            </a:pPr>
            <a:endParaRPr lang="en-US" altLang="en-US" sz="3900" dirty="0">
              <a:solidFill>
                <a:srgbClr val="525252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4" name="Title 1"/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Work – Plan </a:t>
            </a:r>
          </a:p>
        </p:txBody>
      </p:sp>
      <p:graphicFrame>
        <p:nvGraphicFramePr>
          <p:cNvPr id="7" name="Table 6"/>
          <p:cNvGraphicFramePr/>
          <p:nvPr>
            <p:extLst>
              <p:ext uri="{D42A27DB-BD31-4B8C-83A1-F6EECF244321}">
                <p14:modId xmlns:p14="http://schemas.microsoft.com/office/powerpoint/2010/main" val="4013790714"/>
              </p:ext>
            </p:extLst>
          </p:nvPr>
        </p:nvGraphicFramePr>
        <p:xfrm>
          <a:off x="359596" y="883602"/>
          <a:ext cx="11578975" cy="5461793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46742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5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69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05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64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51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11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115000"/>
                        </a:lnSpc>
                        <a:buNone/>
                      </a:pPr>
                      <a:r>
                        <a:rPr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Months  Activities</a:t>
                      </a:r>
                      <a:endParaRPr lang="en-US" sz="1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115000"/>
                        </a:lnSpc>
                        <a:buNone/>
                      </a:pPr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JAN</a:t>
                      </a:r>
                      <a:r>
                        <a:rPr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’</a:t>
                      </a: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</a:t>
                      </a:r>
                      <a:endParaRPr lang="en-US" sz="1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115000"/>
                        </a:lnSpc>
                        <a:buNone/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FEB</a:t>
                      </a:r>
                      <a:r>
                        <a:rPr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’</a:t>
                      </a: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</a:t>
                      </a:r>
                      <a:endParaRPr lang="en-US" sz="1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115000"/>
                        </a:lnSpc>
                        <a:buNone/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</a:t>
                      </a:r>
                      <a:r>
                        <a:rPr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’</a:t>
                      </a: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</a:t>
                      </a:r>
                      <a:endParaRPr lang="en-US" sz="1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115000"/>
                        </a:lnSpc>
                        <a:buNone/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APR</a:t>
                      </a:r>
                      <a:r>
                        <a:rPr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’</a:t>
                      </a: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</a:t>
                      </a:r>
                      <a:endParaRPr lang="en-US" sz="1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115000"/>
                        </a:lnSpc>
                        <a:buNone/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MAY</a:t>
                      </a:r>
                      <a:r>
                        <a:rPr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’</a:t>
                      </a: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</a:t>
                      </a:r>
                      <a:endParaRPr lang="en-US" sz="1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076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lnSpc>
                          <a:spcPct val="115000"/>
                        </a:lnSpc>
                        <a:buNone/>
                      </a:pPr>
                      <a:r>
                        <a:rPr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Literature Reviews</a:t>
                      </a:r>
                      <a:endParaRPr lang="en-US" sz="1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8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  <a:endParaRPr lang="en-US" sz="18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8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  <a:endParaRPr lang="en-US" sz="18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115000"/>
                        </a:lnSpc>
                        <a:buNone/>
                      </a:pPr>
                      <a:endParaRPr lang="en-US" sz="1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8694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lnSpc>
                          <a:spcPct val="115000"/>
                        </a:lnSpc>
                        <a:buNone/>
                      </a:pPr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</a:t>
                      </a:r>
                      <a:r>
                        <a:rPr lang="en-IN" sz="18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Analysis </a:t>
                      </a:r>
                      <a:endParaRPr lang="en-US" sz="1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115000"/>
                        </a:lnSpc>
                        <a:buNone/>
                      </a:pPr>
                      <a:endParaRPr lang="en-US" sz="1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541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lnSpc>
                          <a:spcPct val="115000"/>
                        </a:lnSpc>
                        <a:buNone/>
                      </a:pPr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</a:t>
                      </a:r>
                      <a:r>
                        <a:rPr lang="en-IN" sz="18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Designing</a:t>
                      </a:r>
                      <a:endParaRPr lang="en-US" sz="1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115000"/>
                        </a:lnSpc>
                        <a:buNone/>
                      </a:pPr>
                      <a:endParaRPr lang="en-US" sz="1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1529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lnSpc>
                          <a:spcPct val="115000"/>
                        </a:lnSpc>
                        <a:buNone/>
                      </a:pPr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Coding</a:t>
                      </a:r>
                      <a:r>
                        <a:rPr lang="en-IN" sz="18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sz="1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115000"/>
                        </a:lnSpc>
                        <a:buNone/>
                      </a:pPr>
                      <a:endParaRPr lang="en-US" sz="1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2191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</a:t>
                      </a:r>
                      <a:r>
                        <a:rPr lang="en-IN" sz="18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Testing </a:t>
                      </a:r>
                      <a:endParaRPr lang="en-IN" sz="1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115000"/>
                        </a:lnSpc>
                        <a:buNone/>
                      </a:pPr>
                      <a:endParaRPr lang="en-US" sz="1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1529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lnSpc>
                          <a:spcPct val="115000"/>
                        </a:lnSpc>
                        <a:buNone/>
                      </a:pPr>
                      <a:r>
                        <a:rPr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Testing and Debugging</a:t>
                      </a:r>
                      <a:endParaRPr lang="en-US" sz="1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115000"/>
                        </a:lnSpc>
                        <a:buNone/>
                      </a:pPr>
                      <a:endParaRPr lang="en-US" sz="1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1529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lnSpc>
                          <a:spcPct val="115000"/>
                        </a:lnSpc>
                        <a:buNone/>
                      </a:pPr>
                      <a:r>
                        <a:rPr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Preparation of Project Report</a:t>
                      </a:r>
                      <a:endParaRPr lang="en-US" sz="1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1152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Thesis and Poster Submission </a:t>
                      </a: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/>
                    <a:p>
                      <a:pPr lvl="0" algn="ctr" eaLnBrk="1" hangingPunct="1">
                        <a:lnSpc>
                          <a:spcPct val="115000"/>
                        </a:lnSpc>
                        <a:buNone/>
                      </a:pPr>
                      <a:endParaRPr lang="en-US" sz="1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/>
                    <a:p>
                      <a:pPr lvl="0" algn="ctr" eaLnBrk="1" hangingPunct="1">
                        <a:lnSpc>
                          <a:spcPct val="115000"/>
                        </a:lnSpc>
                        <a:buNone/>
                      </a:pPr>
                      <a:endParaRPr lang="en-US" sz="1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/>
                    <a:p>
                      <a:pPr lvl="0" algn="ctr" eaLnBrk="1" hangingPunct="1">
                        <a:lnSpc>
                          <a:spcPct val="115000"/>
                        </a:lnSpc>
                        <a:buNone/>
                      </a:pPr>
                      <a:endParaRPr lang="en-US" sz="1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/>
                    <a:p>
                      <a:pPr lvl="0" algn="ctr" eaLnBrk="1" hangingPunct="1">
                        <a:lnSpc>
                          <a:spcPct val="115000"/>
                        </a:lnSpc>
                        <a:buNone/>
                      </a:pPr>
                      <a:endParaRPr lang="en-US" sz="1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3" name="Title 1"/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References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F7CD41B-B69D-A0F7-8441-22EE167EEFA4}"/>
              </a:ext>
            </a:extLst>
          </p:cNvPr>
          <p:cNvSpPr txBox="1"/>
          <p:nvPr/>
        </p:nvSpPr>
        <p:spPr>
          <a:xfrm>
            <a:off x="317470" y="789068"/>
            <a:ext cx="1134271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Books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Silberschatz, A., Galvin, P. B., &amp; Gagne, G. (2018).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 concepts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(10th ed.). Wiley.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Pressman, R. S., &amp; Maxim, B. R. (2019).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engineering: A practitioner’s approach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(9th ed.). McGraw-Hill Education.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Sommerville, I. (2016).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engineering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(10th ed.). Pearson Education.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DFF2CD-77B5-61C5-7C1A-529A9852C274}"/>
              </a:ext>
            </a:extLst>
          </p:cNvPr>
          <p:cNvSpPr txBox="1"/>
          <p:nvPr/>
        </p:nvSpPr>
        <p:spPr>
          <a:xfrm>
            <a:off x="317470" y="2976918"/>
            <a:ext cx="11145203" cy="1946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Official Documentation &amp; Websites</a:t>
            </a:r>
          </a:p>
          <a:p>
            <a:pPr marL="800100" lvl="1" indent="-342900">
              <a:lnSpc>
                <a:spcPct val="20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 Foundation. (2024).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 documentation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Retrieved from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https://nodejs.org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200000"/>
              </a:lnSpc>
              <a:buFont typeface="+mj-lt"/>
              <a:buAutoNum type="arabicPeriod"/>
            </a:pPr>
            <a:r>
              <a:rPr lang="en-US" dirty="0" err="1"/>
              <a:t>Supabase</a:t>
            </a:r>
            <a:r>
              <a:rPr lang="en-US" dirty="0"/>
              <a:t> Inc. (2024). </a:t>
            </a:r>
            <a:r>
              <a:rPr lang="en-US" i="1" dirty="0" err="1"/>
              <a:t>Supabase</a:t>
            </a:r>
            <a:r>
              <a:rPr lang="en-US" i="1" dirty="0"/>
              <a:t> documentation</a:t>
            </a:r>
            <a:r>
              <a:rPr lang="en-US" dirty="0"/>
              <a:t>. Retrieved from </a:t>
            </a:r>
            <a:r>
              <a:rPr lang="en-US" dirty="0">
                <a:hlinkClick r:id="rId4"/>
              </a:rPr>
              <a:t>https://supabase.com/docs</a:t>
            </a:r>
            <a:endParaRPr lang="en-US" dirty="0"/>
          </a:p>
          <a:p>
            <a:pPr marL="800100" lvl="1" indent="-342900">
              <a:lnSpc>
                <a:spcPct val="200000"/>
              </a:lnSpc>
              <a:buFont typeface="+mj-lt"/>
              <a:buAutoNum type="arabicPeriod"/>
            </a:pPr>
            <a:r>
              <a:rPr lang="en-US" dirty="0"/>
              <a:t>W3Schools. (2024). </a:t>
            </a:r>
            <a:r>
              <a:rPr lang="en-US" i="1" dirty="0"/>
              <a:t>Web development tutorials</a:t>
            </a:r>
            <a:r>
              <a:rPr lang="en-US" dirty="0"/>
              <a:t>. Retrieved from </a:t>
            </a:r>
            <a:r>
              <a:rPr lang="en-US" dirty="0">
                <a:hlinkClick r:id="rId5"/>
              </a:rPr>
              <a:t>https://www.w3schools.com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25393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BA3E8-363C-C01C-7788-80CFD3C39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B2A79F1-E902-059C-45FD-848E58A7672B}"/>
              </a:ext>
            </a:extLst>
          </p:cNvPr>
          <p:cNvSpPr txBox="1"/>
          <p:nvPr/>
        </p:nvSpPr>
        <p:spPr>
          <a:xfrm>
            <a:off x="7594157" y="2714215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sz="3600" b="1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443CB21-28ED-0CDB-FC49-82E7E6646618}"/>
              </a:ext>
            </a:extLst>
          </p:cNvPr>
          <p:cNvCxnSpPr>
            <a:cxnSpLocks/>
          </p:cNvCxnSpPr>
          <p:nvPr/>
        </p:nvCxnSpPr>
        <p:spPr>
          <a:xfrm>
            <a:off x="1559496" y="1340768"/>
            <a:ext cx="9036496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825FDFB4-2B6D-01C3-B266-67710719A49E}"/>
              </a:ext>
            </a:extLst>
          </p:cNvPr>
          <p:cNvSpPr/>
          <p:nvPr/>
        </p:nvSpPr>
        <p:spPr>
          <a:xfrm>
            <a:off x="2972401" y="917719"/>
            <a:ext cx="6519724" cy="623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MCA</a:t>
            </a:r>
            <a:br>
              <a:rPr lang="en-US" sz="1050" dirty="0"/>
            </a:br>
            <a:endParaRPr lang="en-US" sz="10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D79765-0E58-CC69-0682-C46E6BCBCDC2}"/>
              </a:ext>
            </a:extLst>
          </p:cNvPr>
          <p:cNvSpPr/>
          <p:nvPr/>
        </p:nvSpPr>
        <p:spPr>
          <a:xfrm>
            <a:off x="3373492" y="2636913"/>
            <a:ext cx="517078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026F14-B31C-EB06-DB65-83B2BA0835C6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0368" y="114944"/>
            <a:ext cx="2637593" cy="802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F139C40-ABDD-A571-067E-B95191B7BA69}"/>
              </a:ext>
            </a:extLst>
          </p:cNvPr>
          <p:cNvCxnSpPr>
            <a:cxnSpLocks/>
          </p:cNvCxnSpPr>
          <p:nvPr/>
        </p:nvCxnSpPr>
        <p:spPr>
          <a:xfrm>
            <a:off x="1522984" y="980728"/>
            <a:ext cx="9036496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1CA2EA5-6AD9-58CA-71EB-20F00DF3BB05}"/>
              </a:ext>
            </a:extLst>
          </p:cNvPr>
          <p:cNvCxnSpPr>
            <a:cxnSpLocks/>
          </p:cNvCxnSpPr>
          <p:nvPr/>
        </p:nvCxnSpPr>
        <p:spPr>
          <a:xfrm>
            <a:off x="3503712" y="5949291"/>
            <a:ext cx="7092280" cy="0"/>
          </a:xfrm>
          <a:prstGeom prst="line">
            <a:avLst/>
          </a:prstGeom>
          <a:ln w="1905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D9496875-2664-3788-45D1-A313D9696E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6353" y="5803526"/>
            <a:ext cx="1512168" cy="577803"/>
          </a:xfrm>
          <a:prstGeom prst="rect">
            <a:avLst/>
          </a:prstGeom>
          <a:noFill/>
        </p:spPr>
      </p:pic>
      <p:sp>
        <p:nvSpPr>
          <p:cNvPr id="14" name="Text Box 3">
            <a:extLst>
              <a:ext uri="{FF2B5EF4-FFF2-40B4-BE49-F238E27FC236}">
                <a16:creationId xmlns:a16="http://schemas.microsoft.com/office/drawing/2014/main" id="{E709F348-A1FA-9F9D-2415-02619F9292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8386" y="6093308"/>
            <a:ext cx="6164039" cy="432037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Nagpur</a:t>
            </a:r>
            <a:r>
              <a:rPr lang="en-US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|</a:t>
            </a:r>
            <a:r>
              <a:rPr lang="en-US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Pune </a:t>
            </a:r>
            <a:r>
              <a:rPr lang="en-US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</a:t>
            </a:r>
            <a:r>
              <a:rPr lang="en-US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Jalgaon </a:t>
            </a:r>
            <a:r>
              <a:rPr lang="en-US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</a:t>
            </a:r>
            <a:r>
              <a:rPr lang="en-US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Amravati </a:t>
            </a:r>
            <a:r>
              <a:rPr lang="en-US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</a:t>
            </a:r>
            <a:r>
              <a:rPr lang="en-US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Pandhurna </a:t>
            </a:r>
            <a:r>
              <a:rPr lang="en-US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</a:t>
            </a:r>
            <a:r>
              <a:rPr lang="en-US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Bhandara 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Text Box 6">
            <a:extLst>
              <a:ext uri="{FF2B5EF4-FFF2-40B4-BE49-F238E27FC236}">
                <a16:creationId xmlns:a16="http://schemas.microsoft.com/office/drawing/2014/main" id="{3A929E82-A987-DF97-4565-F2630B25C8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9576" y="4509120"/>
            <a:ext cx="6519724" cy="1117600"/>
          </a:xfrm>
          <a:prstGeom prst="rect">
            <a:avLst/>
          </a:prstGeom>
          <a:solidFill>
            <a:srgbClr val="FFFFFF"/>
          </a:solidFill>
          <a:ln w="19050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>
              <a:buNone/>
            </a:pP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 H Raisoni College of Engineering &amp; Management</a:t>
            </a:r>
            <a:endParaRPr lang="en-IN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(Formerly Known as G H Raisoni Institute of Engineering &amp; Technology)</a:t>
            </a:r>
            <a:endParaRPr lang="en-IN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</a:t>
            </a:r>
            <a:r>
              <a:rPr lang="en-US" sz="1200" spc="-2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Autonomous</a:t>
            </a:r>
            <a:r>
              <a:rPr lang="en-US" sz="1200" spc="-25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Institute</a:t>
            </a:r>
            <a:r>
              <a:rPr lang="en-US" sz="1200" spc="-2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Affiliated</a:t>
            </a:r>
            <a:r>
              <a:rPr lang="en-US" sz="1200" spc="-15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</a:t>
            </a:r>
            <a:r>
              <a:rPr lang="en-US" sz="1200" spc="-15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Rashtrasant </a:t>
            </a:r>
            <a:r>
              <a:rPr lang="en-US" sz="1200" spc="-15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Tukadoji</a:t>
            </a:r>
            <a:r>
              <a:rPr lang="en-US" sz="1200" spc="-15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Maharaj</a:t>
            </a:r>
            <a:r>
              <a:rPr lang="en-US" sz="1200" spc="-15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Nagpur</a:t>
            </a:r>
            <a:r>
              <a:rPr lang="en-US" sz="1200" spc="-15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University,</a:t>
            </a:r>
            <a:r>
              <a:rPr lang="en-US" sz="1200" spc="-15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Nagpur</a:t>
            </a:r>
            <a:endParaRPr lang="en-IN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Accredited</a:t>
            </a:r>
            <a:r>
              <a:rPr lang="en-US" sz="1200" spc="-15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by</a:t>
            </a:r>
            <a:r>
              <a:rPr lang="en-US" sz="1200" spc="-1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NAAC</a:t>
            </a:r>
            <a:r>
              <a:rPr lang="en-US" sz="1200" spc="-5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with “A+” Grade</a:t>
            </a:r>
            <a:endParaRPr lang="en-IN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Shraddha Park, B-37-39/1, MIDC, Hingna-Wadi Link Road, Nagpur-440016 (INDIA)</a:t>
            </a:r>
            <a:r>
              <a:rPr lang="en-US" sz="1200" spc="-17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</a:t>
            </a:r>
            <a:endParaRPr lang="en-IN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pt-BR" sz="12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T:</a:t>
            </a:r>
            <a:r>
              <a:rPr lang="pt-BR" sz="12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1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+91-07104-236102 </a:t>
            </a:r>
            <a:r>
              <a:rPr lang="pt-BR" sz="12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|</a:t>
            </a:r>
            <a:r>
              <a:rPr lang="pt-BR" sz="1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12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E:</a:t>
            </a:r>
            <a:r>
              <a:rPr lang="pt-BR" sz="1200" spc="-2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1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1200" u="sng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ghrcemn@raisoni.net</a:t>
            </a: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12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|</a:t>
            </a:r>
            <a:r>
              <a:rPr lang="pt-BR" sz="1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12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W:</a:t>
            </a:r>
            <a:r>
              <a:rPr lang="pt-BR" sz="12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1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www.ghrcemn.raisoni.net</a:t>
            </a:r>
            <a:endParaRPr lang="en-IN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pt-BR" sz="1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pt-BR" sz="1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51509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</TotalTime>
  <Words>879</Words>
  <Application>Microsoft Office PowerPoint</Application>
  <PresentationFormat>Widescreen</PresentationFormat>
  <Paragraphs>165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</vt:lpstr>
      <vt:lpstr>Arial Black</vt:lpstr>
      <vt:lpstr>Calibri</vt:lpstr>
      <vt:lpstr>Calibri Light</vt:lpstr>
      <vt:lpstr>Castellar</vt:lpstr>
      <vt:lpstr>Times New Roman</vt:lpstr>
      <vt:lpstr>Wingdings</vt:lpstr>
      <vt:lpstr>Wingdings 2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user1</dc:creator>
  <cp:lastModifiedBy>Rajat Bhendarkar</cp:lastModifiedBy>
  <cp:revision>104</cp:revision>
  <cp:lastPrinted>2025-02-24T09:11:58Z</cp:lastPrinted>
  <dcterms:created xsi:type="dcterms:W3CDTF">2018-01-20T09:03:00Z</dcterms:created>
  <dcterms:modified xsi:type="dcterms:W3CDTF">2026-02-15T07:33:01Z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2827BD18236A4CF6BC71A340533B268D</vt:lpwstr>
  </property>
  <property fmtid="{D5CDD505-2E9C-101B-9397-08002B2CF9AE}" pid="3" name="KSOProductBuildVer">
    <vt:lpwstr>1033-11.2.0.10323</vt:lpwstr>
  </property>
</Properties>
</file>